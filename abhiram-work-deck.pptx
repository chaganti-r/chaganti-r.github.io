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A2744"/>
                </a:solidFill>
                <a:latin typeface="Calibri"/>
              </a:defRPr>
            </a:pPr>
            <a:r>
              <a:rPr lang="en-US" sz="1000" b="0" i="0" u="none" strike="noStrike">
                <a:solidFill>
                  <a:srgbClr val="1A2744"/>
                </a:solidFill>
                <a:latin typeface="Calibri"/>
              </a:rPr>
              <a:t>EBITDA Margin Expansion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 %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A274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2025E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16.5</c:v>
                </c:pt>
                <c:pt idx="2">
                  <c:v>17.5</c:v>
                </c:pt>
                <c:pt idx="3">
                  <c:v>18</c:v>
                </c:pt>
                <c:pt idx="4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F5-4060-8AE5-11BE8C9F664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1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939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aganti-r.github.io/ramchaganti.github.io/" TargetMode="External"/><Relationship Id="rId4" Type="http://schemas.openxmlformats.org/officeDocument/2006/relationships/hyperlink" Target="https://www.linkedin.com/in/abhiram-chagant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8288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0" y="914400"/>
            <a:ext cx="9144000" cy="457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0" y="1828800"/>
            <a:ext cx="9144000" cy="457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0" y="2743200"/>
            <a:ext cx="9144000" cy="457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0" y="3657600"/>
            <a:ext cx="9144000" cy="457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457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0080" y="1280160"/>
            <a:ext cx="54864" cy="25603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5840" y="128016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ABHIRAM CHAGANTI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1005840" y="19202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&amp; Strategy Portfolio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5840" y="25146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Rutgers Business School  |  Finance, PPE Concentration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 •  M&amp;A  •  Equity Research  •  LBO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presents a cross-section of financial modeling and analysis work spanning valuation, M&amp;A, equity research, and leveraged buyouts. Projects cover defense (Boeing, ISSC, Ducommun) and technology (Snowflake) I hope to reflect my focus on sectors where capital allocation, government policy, and innovation intersect.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8288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18288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974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ISSC Valuation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566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&amp; Trading Comps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24–27% upside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70048" y="2468880"/>
            <a:ext cx="18288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670048" y="2468880"/>
            <a:ext cx="18288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26974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07208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Boeing–ISSC M&amp;A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807208" y="3566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merger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2.9% immediate accretion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00016" y="2468880"/>
            <a:ext cx="18288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700016" y="2468880"/>
            <a:ext cx="182880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7176" y="26974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837176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Research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837176" y="3566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research, SELL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downside via DCF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729984" y="2468880"/>
            <a:ext cx="18288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729984" y="2468880"/>
            <a:ext cx="182880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144" y="269748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67144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Ducommun LBO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867144" y="3566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/ debt structure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sweep &amp; returns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ISSC VALUATION — DCF &amp; TRADING COMPS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Cash Flow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3840480" cy="208483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Growth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FCFs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$413M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$499M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$477M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$26.90 (24% upside)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WACC vs Terminal Growth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23360"/>
          <a:ext cx="3840480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\ TGR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Comparables</a:t>
            </a:r>
            <a:endParaRPr lang="en-US" sz="14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3840480" cy="14630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EV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$429M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$22.32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EV/Gross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$423M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$22.65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EV/Backlog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$839M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EV/R&amp;D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$515M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846320" y="3017520"/>
            <a:ext cx="3840480" cy="1645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4983480" y="3108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Peer Group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4983480" y="342900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AerSale (ASLE)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Aftermarket &amp; MRO services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Astronics (ATRO)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Avionics &amp; lighting systems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Machines (LUNR)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Space systems, similar revenue model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Spire Global (SPIR)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Satellite analytics, gov't contracts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BOEING–ISSC MERGER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Overview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3840480" cy="171907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Boeing Co. (NYSE: BA)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Innovative Aerosystems (ISSC)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tuck-in acquisition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$510M (30% premium)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 Cash / 33% Stock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Synergies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$200M (5-year)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Rationale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ISSC's retrofitting and avionics R&amp;D to support KC-46A, T-7A Red Hawk, and B-47 programs. Vertically integrate fuel optimization (ThrustSense) and cockpit systems (COCKPIT/IP). Drive down long-run manufacturing costs while strengthening fleet lifetimes.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Accretion / Dilution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1234440" cy="11887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846320" y="14630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892040" y="2011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Accretion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(2026E)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172200" y="1417320"/>
            <a:ext cx="1234440" cy="11887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72200" y="14630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$200M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217920" y="2011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Synergies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2030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7498080" y="1417320"/>
            <a:ext cx="1234440" cy="11887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498080" y="14630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543800" y="2011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Forma EPS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$1.75 Standalone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846320" y="2880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 Composition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3200400"/>
          <a:ext cx="3840480" cy="138988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Elimination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Savings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R&amp;D Savings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846320" y="4572000"/>
            <a:ext cx="3840480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846320" y="4572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BUY — Immediately accretive under all scenarios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 (SNOW) — EQUITY RESEARCH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818120" y="205740"/>
            <a:ext cx="914400" cy="411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818120" y="2286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Thesis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Competitive Pressure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($134B valuation) gaining AI/ML momentum. SNOW must sustain elevated R&amp;D (42%) and S&amp;M (43%) spend.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Structural Margin Ceiling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Cloud-agnostic model forces infrastructure payments to hyperscalers. Gross margin (67%) trails peer median (74%). SBC runs 32-40% of revenue.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Slowing Growth Engine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declining: 178% → 158% → 131% → 127%. Customer optimization, mix dilution, and workload migration driving compression.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Summary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0" y="1417320"/>
            <a:ext cx="1828800" cy="1097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1691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4632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-57.5%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12280" y="1417320"/>
            <a:ext cx="1828800" cy="10972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122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Comps (Bear)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1691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8122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-30.2%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743200"/>
          <a:ext cx="3840480" cy="13807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DCF 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$26.3B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$34.1B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846320" y="42062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 trades at 17.2x NTM revenue vs peer median 14.2x — 21% premium despite worst-in-class gross margin. Even at 10% WACC / 3% TGR, implied price of $152 still represents 32% downside.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DUCOMMUN (DCO) — LEVERAGED BUYOUT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03917" y="209080"/>
            <a:ext cx="1274323" cy="382297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52360" y="19825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&amp; Capital Structure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3840480" cy="196291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$1,937M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 / LTM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15.5x (Bear)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Debt (4.5x)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$569M @ 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Debt (1.8x)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$227M @ 12.0%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Leverage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6.4x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Contribution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$1,435M (65%)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4632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Cash Flow &amp; Debt Paydown (Optimistic)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17320"/>
          <a:ext cx="3913632" cy="113385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2029E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$147M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$168M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$189M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Levered FCF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$84M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$108M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Sweep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$103M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Sr. Debt (Net)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$502M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$478M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$456M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$425M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Chart 0"/>
          <p:cNvGraphicFramePr/>
          <p:nvPr/>
        </p:nvGraphicFramePr>
        <p:xfrm>
          <a:off x="4846320" y="2834640"/>
          <a:ext cx="3931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4008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DCO is an A&amp;D structures manufacturer. Model explores a sponsor-backed take-private with 95% cash sweep and senior + sub debt layers.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I'M FOCUSED NEXT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1234440" y="1005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at the intersection of capital markets, policy, and technology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7863840" cy="914400"/>
          </a:xfrm>
          <a:prstGeom prst="rect">
            <a:avLst/>
          </a:prstGeom>
          <a:solidFill>
            <a:srgbClr val="162036"/>
          </a:solidFill>
          <a:ln w="635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4864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601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Industrial Base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98424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contractors face pressure to innovate faster while managing cost overruns. Prime contractors will look to vertically integrate where it makes sense, while “neo-Primes” (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i.e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Anduril, Palantir) will be in demand for cutting-edge military solutions.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7863840" cy="914400"/>
          </a:xfrm>
          <a:prstGeom prst="rect">
            <a:avLst/>
          </a:prstGeom>
          <a:solidFill>
            <a:srgbClr val="162036"/>
          </a:solidFill>
          <a:ln w="635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0080" y="2697480"/>
            <a:ext cx="54864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6012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Applications, Robotics</a:t>
            </a:r>
          </a:p>
        </p:txBody>
      </p:sp>
      <p:sp>
        <p:nvSpPr>
          <p:cNvPr id="12" name="Text 9"/>
          <p:cNvSpPr/>
          <p:nvPr/>
        </p:nvSpPr>
        <p:spPr>
          <a:xfrm>
            <a:off x="960120" y="30815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development barriers have come down to virtually 0. I am eager about being very hands-on with the latest capabilities. Specifically, I am currently exploring how real-time data APIs could be coupled with video and audio generation models.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7863840" cy="914400"/>
          </a:xfrm>
          <a:prstGeom prst="rect">
            <a:avLst/>
          </a:prstGeom>
          <a:solidFill>
            <a:srgbClr val="162036"/>
          </a:solidFill>
          <a:ln w="635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40080" y="3794760"/>
            <a:ext cx="54864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6012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Unprecedented Competition in the Private Sector</a:t>
            </a:r>
          </a:p>
        </p:txBody>
      </p:sp>
      <p:sp>
        <p:nvSpPr>
          <p:cNvPr id="16" name="Text 13"/>
          <p:cNvSpPr/>
          <p:nvPr/>
        </p:nvSpPr>
        <p:spPr>
          <a:xfrm>
            <a:off x="960120" y="4178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has been tremendous growth in the private sector and contrary to the developmental barriers in tech, the IPO market is wildly competitive. I am interested in public acquisitions in the private sector. Particularly newfound industrials venture capital.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85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8288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0"/>
            <a:ext cx="4572" cy="514350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726657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40080" y="1510057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3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ABHIRAM CHAGANTI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2022705"/>
            <a:ext cx="2743200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2608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chaganti.abhi@gmail.com  |  331-218-8108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Rutgers Business School  |  Finance, PPE Concentration  |  Class of 2027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4709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rgbClr val="C8D9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linkedin</a:t>
            </a:r>
            <a:r>
              <a:rPr lang="en-US" sz="1100" dirty="0">
                <a:solidFill>
                  <a:srgbClr val="C8D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 </a:t>
            </a:r>
            <a:r>
              <a:rPr lang="en-US" sz="1100" dirty="0">
                <a:solidFill>
                  <a:srgbClr val="C8D9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ramchaganti.com</a:t>
            </a:r>
            <a:endParaRPr lang="en-US" sz="1100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F9156DFC-BF56-192E-7866-867C661B45E4}"/>
              </a:ext>
            </a:extLst>
          </p:cNvPr>
          <p:cNvSpPr/>
          <p:nvPr/>
        </p:nvSpPr>
        <p:spPr>
          <a:xfrm>
            <a:off x="644652" y="1967257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Georgia" panose="02040502050405020303" pitchFamily="18" charset="0"/>
              </a:rPr>
              <a:t>I am open to opportunities!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1017</Words>
  <Application>Microsoft Office PowerPoint</Application>
  <PresentationFormat>On-screen Show (16:9)</PresentationFormat>
  <Paragraphs>233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Finance &amp; Strategy Portfolio</dc:title>
  <dc:subject>PptxGenJS Presentation</dc:subject>
  <dc:creator>Abhiram Chaganti</dc:creator>
  <cp:lastModifiedBy>Abhiram Chaganti</cp:lastModifiedBy>
  <cp:revision>4</cp:revision>
  <cp:lastPrinted>2026-02-20T21:51:34Z</cp:lastPrinted>
  <dcterms:created xsi:type="dcterms:W3CDTF">2026-02-20T20:07:59Z</dcterms:created>
  <dcterms:modified xsi:type="dcterms:W3CDTF">2026-02-21T00:26:47Z</dcterms:modified>
</cp:coreProperties>
</file>